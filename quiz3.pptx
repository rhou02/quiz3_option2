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38" r:id="rId2"/>
    <p:sldId id="287" r:id="rId3"/>
    <p:sldId id="412" r:id="rId4"/>
    <p:sldId id="410" r:id="rId5"/>
    <p:sldId id="416" r:id="rId6"/>
    <p:sldId id="418" r:id="rId7"/>
    <p:sldId id="415" r:id="rId8"/>
    <p:sldId id="417" r:id="rId9"/>
    <p:sldId id="414" r:id="rId10"/>
    <p:sldId id="411" r:id="rId11"/>
    <p:sldId id="404" r:id="rId12"/>
    <p:sldId id="325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ny" initials="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412" autoAdjust="0"/>
  </p:normalViewPr>
  <p:slideViewPr>
    <p:cSldViewPr snapToGrid="0">
      <p:cViewPr varScale="1">
        <p:scale>
          <a:sx n="68" d="100"/>
          <a:sy n="68" d="100"/>
        </p:scale>
        <p:origin x="10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17F1D-5E83-4DEF-A06B-B488D53DDE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10DB7-2161-4641-8553-03F0B33996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1B9F6-83FB-493E-A7E6-598B4433056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1A7F6-7F60-4E52-8941-0012DD659A4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3983" y="751205"/>
            <a:ext cx="12419965" cy="2160270"/>
          </a:xfrm>
        </p:spPr>
        <p:txBody>
          <a:bodyPr>
            <a:noAutofit/>
          </a:bodyPr>
          <a:lstStyle/>
          <a:p>
            <a:r>
              <a:rPr lang="en-US" altLang="zh-CN" sz="4000" b="1" dirty="0"/>
              <a:t>Option 2: Interior Design Generation</a:t>
            </a:r>
            <a:br>
              <a:rPr lang="en-US" altLang="zh-CN" sz="4000" b="1" dirty="0"/>
            </a:br>
            <a:r>
              <a:rPr lang="en-US" altLang="zh-CN" sz="4000" b="1" dirty="0"/>
              <a:t>Controlled Image Generation using Stable Diffusion</a:t>
            </a:r>
            <a:endParaRPr lang="en-US" alt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4451033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Ruixuan Hou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500"/>
            <a:ext cx="11040745" cy="5032375"/>
          </a:xfrm>
        </p:spPr>
        <p:txBody>
          <a:bodyPr>
            <a:normAutofit/>
          </a:bodyPr>
          <a:lstStyle/>
          <a:p>
            <a:r>
              <a:rPr lang="en-US" dirty="0"/>
              <a:t>Scenario: Interior Design Generation</a:t>
            </a:r>
          </a:p>
          <a:p>
            <a:r>
              <a:rPr lang="en-US" dirty="0"/>
              <a:t>Generate interior design images from structured inputs</a:t>
            </a:r>
          </a:p>
          <a:p>
            <a:r>
              <a:rPr lang="en-US" dirty="0"/>
              <a:t>Focus on control, consistency, and realism</a:t>
            </a:r>
          </a:p>
          <a:p>
            <a:r>
              <a:rPr lang="en-US" dirty="0"/>
              <a:t>Inspired by real-world applications (e.g., IKEA design tools)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Demo &amp; Repository: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Demo Video: https://umsystem.hosted.panopto.com/Panopto/Pages/Viewer.aspx?id=3274e490-82d4-4057-b307-b43101531832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GitHub: https://github.com/RHou02/Quiz3_Option2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3F5FE-4B71-F38E-B862-4DFC516C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255933" cy="458964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Data Source</a:t>
            </a:r>
            <a:endParaRPr lang="zh-CN" altLang="en-US" sz="24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BE6CE-AE87-D018-DC01-4F96A3EEF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90" y="1614312"/>
            <a:ext cx="10902244" cy="5746044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Synthetic structured data is used</a:t>
            </a:r>
          </a:p>
          <a:p>
            <a:r>
              <a:rPr lang="en-US" altLang="zh-CN" sz="2000" dirty="0"/>
              <a:t>Attributes include:</a:t>
            </a:r>
          </a:p>
          <a:p>
            <a:pPr marL="0" indent="0">
              <a:buNone/>
            </a:pPr>
            <a:r>
              <a:rPr lang="en-US" altLang="zh-CN" sz="2000" dirty="0"/>
              <a:t>	• Room type</a:t>
            </a:r>
          </a:p>
          <a:p>
            <a:pPr marL="0" indent="0">
              <a:buNone/>
            </a:pPr>
            <a:r>
              <a:rPr lang="en-US" altLang="zh-CN" sz="2000" dirty="0"/>
              <a:t>	• Style</a:t>
            </a:r>
          </a:p>
          <a:p>
            <a:pPr marL="0" indent="0">
              <a:buNone/>
            </a:pPr>
            <a:r>
              <a:rPr lang="en-US" altLang="zh-CN" sz="2000" dirty="0"/>
              <a:t>	• Color</a:t>
            </a:r>
          </a:p>
          <a:p>
            <a:pPr marL="0" indent="0">
              <a:buNone/>
            </a:pPr>
            <a:r>
              <a:rPr lang="en-US" altLang="zh-CN" sz="2000" dirty="0"/>
              <a:t>	• Lighting 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Inspired by </a:t>
            </a:r>
            <a:r>
              <a:rPr lang="en-US" altLang="zh-CN" sz="2000" dirty="0" err="1"/>
              <a:t>huggingface</a:t>
            </a:r>
            <a:r>
              <a:rPr lang="en-US" altLang="zh-CN" sz="2000" dirty="0"/>
              <a:t>/diffusers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501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1027" y="-136819"/>
            <a:ext cx="11497945" cy="1325880"/>
          </a:xfrm>
        </p:spPr>
        <p:txBody>
          <a:bodyPr>
            <a:normAutofit/>
          </a:bodyPr>
          <a:lstStyle/>
          <a:p>
            <a:r>
              <a:rPr lang="en-US" sz="3600" b="1" dirty="0"/>
              <a:t>Methodology:</a:t>
            </a:r>
            <a:r>
              <a:rPr lang="zh-CN" altLang="en-US" sz="3600" b="1" dirty="0"/>
              <a:t> </a:t>
            </a:r>
            <a:endParaRPr lang="en-US" sz="3600" b="1" dirty="0"/>
          </a:p>
        </p:txBody>
      </p:sp>
      <p:sp>
        <p:nvSpPr>
          <p:cNvPr id="7" name="圆角矩形 6"/>
          <p:cNvSpPr/>
          <p:nvPr/>
        </p:nvSpPr>
        <p:spPr>
          <a:xfrm>
            <a:off x="649605" y="962660"/>
            <a:ext cx="3995420" cy="51225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Input: structured room data</a:t>
            </a:r>
          </a:p>
          <a:p>
            <a:pPr algn="ctr"/>
            <a:r>
              <a:rPr lang="zh-CN" altLang="en-US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👇</a:t>
            </a:r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</a:p>
          <a:p>
            <a:pPr algn="ctr"/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Convert data into prompts</a:t>
            </a:r>
            <a:endParaRPr lang="zh-CN" altLang="en-US" sz="3200" dirty="0"/>
          </a:p>
        </p:txBody>
      </p:sp>
      <p:sp>
        <p:nvSpPr>
          <p:cNvPr id="8" name="圆角矩形 7"/>
          <p:cNvSpPr/>
          <p:nvPr/>
        </p:nvSpPr>
        <p:spPr>
          <a:xfrm>
            <a:off x="5902960" y="902335"/>
            <a:ext cx="5233670" cy="263779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Generate images </a:t>
            </a:r>
          </a:p>
          <a:p>
            <a:pPr algn="ctr"/>
            <a:r>
              <a:rPr lang="zh-CN" altLang="en-US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👇</a:t>
            </a:r>
            <a:endParaRPr lang="en-US" altLang="zh-CN" sz="3200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ctr"/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using Stable Diffusion</a:t>
            </a:r>
            <a:endParaRPr lang="zh-CN" altLang="en-US" sz="3200" dirty="0"/>
          </a:p>
        </p:txBody>
      </p:sp>
      <p:sp>
        <p:nvSpPr>
          <p:cNvPr id="9" name="圆角矩形 8"/>
          <p:cNvSpPr/>
          <p:nvPr/>
        </p:nvSpPr>
        <p:spPr>
          <a:xfrm>
            <a:off x="5902325" y="3873500"/>
            <a:ext cx="5234305" cy="221170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Compare baseline vs improved prompts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E46CB-48C1-A355-4C40-F7968231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Stable Diffusion Pipeline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3D31D-44E7-2467-6A7E-6EBD62B2F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00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• Model: Stable Diffusion v1.5</a:t>
            </a:r>
          </a:p>
          <a:p>
            <a:pPr marL="0" indent="0">
              <a:buNone/>
            </a:pPr>
            <a:r>
              <a:rPr lang="en-US" altLang="zh-CN" dirty="0"/>
              <a:t>• Framework: Diffusers</a:t>
            </a:r>
          </a:p>
          <a:p>
            <a:pPr marL="0" indent="0">
              <a:buNone/>
            </a:pPr>
            <a:r>
              <a:rPr lang="en-US" altLang="zh-CN" dirty="0"/>
              <a:t>• Process:</a:t>
            </a:r>
          </a:p>
          <a:p>
            <a:pPr marL="0" indent="0">
              <a:buNone/>
            </a:pPr>
            <a:r>
              <a:rPr lang="en-US" altLang="zh-CN" dirty="0"/>
              <a:t>	 Text prompt → latent space → image generation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55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FEDF7-31AE-097F-1719-4B776415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Prompt Design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94DBBA-19BE-3327-90BD-6B8037AB8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Baseline prompt:</a:t>
            </a:r>
          </a:p>
          <a:p>
            <a:pPr lvl="1"/>
            <a:r>
              <a:rPr lang="en-US" altLang="zh-CN" dirty="0"/>
              <a:t> Simple text (e.g., “living room”)</a:t>
            </a:r>
          </a:p>
          <a:p>
            <a:r>
              <a:rPr lang="en-US" altLang="zh-CN" dirty="0"/>
              <a:t> Improved prompt:</a:t>
            </a:r>
          </a:p>
          <a:p>
            <a:pPr lvl="1"/>
            <a:r>
              <a:rPr lang="en-US" altLang="zh-CN" dirty="0"/>
              <a:t> Structured template: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sz="2400" dirty="0"/>
              <a:t>• Style + Color + Room Type + Lighting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sz="2400" dirty="0"/>
              <a:t>• Example: “A modern white living room with soft lighting”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445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0B0AA-1A5F-5C3E-157D-E4622613A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22" y="872948"/>
            <a:ext cx="11094156" cy="5985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Control Strategy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• Structured prompts</a:t>
            </a:r>
          </a:p>
          <a:p>
            <a:pPr marL="0" indent="0">
              <a:buNone/>
            </a:pPr>
            <a:r>
              <a:rPr lang="en-US" altLang="zh-CN" dirty="0"/>
              <a:t>• Negative prompts:</a:t>
            </a:r>
          </a:p>
          <a:p>
            <a:pPr marL="0" indent="0">
              <a:buNone/>
            </a:pPr>
            <a:r>
              <a:rPr lang="en-US" altLang="zh-CN" dirty="0"/>
              <a:t>	 “not quite fit the description”, low quality, cluttered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• Goal: Improve control and reduce noise</a:t>
            </a:r>
          </a:p>
        </p:txBody>
      </p:sp>
    </p:spTree>
    <p:extLst>
      <p:ext uri="{BB962C8B-B14F-4D97-AF65-F5344CB8AC3E}">
        <p14:creationId xmlns:p14="http://schemas.microsoft.com/office/powerpoint/2010/main" val="1485577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74D31-E731-5A42-2943-475F1053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586466-C898-7CBD-AF8A-2843A5EE3AD1}"/>
              </a:ext>
            </a:extLst>
          </p:cNvPr>
          <p:cNvSpPr txBox="1"/>
          <p:nvPr/>
        </p:nvSpPr>
        <p:spPr>
          <a:xfrm>
            <a:off x="592314" y="1360020"/>
            <a:ext cx="1092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Baseline(1</a:t>
            </a:r>
            <a:r>
              <a:rPr lang="en-US" altLang="zh-CN" baseline="30000" dirty="0"/>
              <a:t>st</a:t>
            </a:r>
            <a:r>
              <a:rPr lang="en-US" altLang="zh-CN" dirty="0"/>
              <a:t> row) vs Improved comparison(2</a:t>
            </a:r>
            <a:r>
              <a:rPr lang="en-US" altLang="zh-CN" baseline="30000" dirty="0"/>
              <a:t>nd</a:t>
            </a:r>
            <a:r>
              <a:rPr lang="en-US" altLang="zh-CN" dirty="0"/>
              <a:t> row) (Multiple room types:• Living room• Bedroom• Kitchen)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7B6280-F7C3-0D05-658F-8CE56F933A3E}"/>
              </a:ext>
            </a:extLst>
          </p:cNvPr>
          <p:cNvSpPr txBox="1"/>
          <p:nvPr/>
        </p:nvSpPr>
        <p:spPr>
          <a:xfrm>
            <a:off x="894604" y="6182267"/>
            <a:ext cx="320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Living room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2E6C9E-83E4-F989-BBB9-DBE2E0889DD3}"/>
              </a:ext>
            </a:extLst>
          </p:cNvPr>
          <p:cNvSpPr txBox="1"/>
          <p:nvPr/>
        </p:nvSpPr>
        <p:spPr>
          <a:xfrm>
            <a:off x="3724098" y="6182267"/>
            <a:ext cx="3364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Bedroom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191D03-3403-3BCC-926C-9A36263D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42" y="1760130"/>
            <a:ext cx="1800225" cy="1805825"/>
          </a:xfrm>
          <a:prstGeom prst="rect">
            <a:avLst/>
          </a:prstGeom>
        </p:spPr>
      </p:pic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441FD87B-46DC-365B-0493-FD37E8A8A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2042" y="4114331"/>
            <a:ext cx="1800260" cy="18058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58D808-C694-191C-6E71-8C44EBC42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114" y="1788257"/>
            <a:ext cx="1800225" cy="179465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C27BABA-DDE6-17A2-8ABB-6A9F88EB9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750" y="4114330"/>
            <a:ext cx="1940589" cy="1805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1291235-DA39-9D37-FD32-7C1C74EC7FB6}"/>
              </a:ext>
            </a:extLst>
          </p:cNvPr>
          <p:cNvSpPr txBox="1"/>
          <p:nvPr/>
        </p:nvSpPr>
        <p:spPr>
          <a:xfrm>
            <a:off x="7980050" y="6174066"/>
            <a:ext cx="279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Kitchen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97F261E-FC74-1ECF-7ED8-05E52A444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8557" y="1788257"/>
            <a:ext cx="2011315" cy="18058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83A90C6-AF2B-B85D-5AD9-0567053151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442" y="4114330"/>
            <a:ext cx="1797430" cy="179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2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B46D8-3802-F9FC-A9E1-4A83DC25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35466"/>
            <a:ext cx="4210755" cy="406401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Evaluation</a:t>
            </a:r>
            <a:endParaRPr lang="zh-CN" altLang="en-US" sz="4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758264-185B-72CE-743B-B1DB33B9E722}"/>
              </a:ext>
            </a:extLst>
          </p:cNvPr>
          <p:cNvSpPr txBox="1"/>
          <p:nvPr/>
        </p:nvSpPr>
        <p:spPr>
          <a:xfrm>
            <a:off x="389466" y="957806"/>
            <a:ext cx="4334933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Prompt Alignment:</a:t>
            </a:r>
          </a:p>
          <a:p>
            <a:r>
              <a:rPr lang="en-US" altLang="zh-CN" sz="2800" dirty="0"/>
              <a:t> Improved prompts better match descriptions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C5899F-B359-3678-3439-DD6B50584B77}"/>
              </a:ext>
            </a:extLst>
          </p:cNvPr>
          <p:cNvSpPr txBox="1"/>
          <p:nvPr/>
        </p:nvSpPr>
        <p:spPr>
          <a:xfrm>
            <a:off x="389466" y="4143736"/>
            <a:ext cx="4272843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Consistency: </a:t>
            </a:r>
          </a:p>
          <a:p>
            <a:r>
              <a:rPr lang="en-US" altLang="zh-CN" sz="2800" dirty="0"/>
              <a:t>More stable layout and style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23491-9200-96AD-A52D-2480257EC385}"/>
              </a:ext>
            </a:extLst>
          </p:cNvPr>
          <p:cNvSpPr txBox="1"/>
          <p:nvPr/>
        </p:nvSpPr>
        <p:spPr>
          <a:xfrm>
            <a:off x="5260618" y="1264355"/>
            <a:ext cx="6333069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Quality:</a:t>
            </a:r>
          </a:p>
          <a:p>
            <a:r>
              <a:rPr lang="en-US" altLang="zh-CN" sz="2800" dirty="0"/>
              <a:t> Similar sharpness across both methods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8168BF-74B0-6FD5-17CF-AFAC9F3B90F6}"/>
              </a:ext>
            </a:extLst>
          </p:cNvPr>
          <p:cNvSpPr txBox="1"/>
          <p:nvPr/>
        </p:nvSpPr>
        <p:spPr>
          <a:xfrm>
            <a:off x="4967107" y="4143736"/>
            <a:ext cx="6920089" cy="95410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Diversity: </a:t>
            </a:r>
          </a:p>
          <a:p>
            <a:r>
              <a:rPr lang="en-US" altLang="zh-CN" sz="2800" dirty="0"/>
              <a:t>Different rooms show clear variation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9101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1027" y="-136819"/>
            <a:ext cx="1149794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Findings &amp; Insights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9EA0CB-A8DF-FBF7-D6CC-B7CDE892F9B8}"/>
              </a:ext>
            </a:extLst>
          </p:cNvPr>
          <p:cNvSpPr txBox="1"/>
          <p:nvPr/>
        </p:nvSpPr>
        <p:spPr>
          <a:xfrm>
            <a:off x="583028" y="767644"/>
            <a:ext cx="94302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• Structured prompts improve semantic alignment</a:t>
            </a:r>
          </a:p>
          <a:p>
            <a:endParaRPr lang="en-US" altLang="zh-CN" sz="2800" dirty="0"/>
          </a:p>
          <a:p>
            <a:r>
              <a:rPr lang="en-US" altLang="zh-CN" sz="2800" dirty="0"/>
              <a:t>• Negative prompts reduce noise</a:t>
            </a:r>
          </a:p>
          <a:p>
            <a:endParaRPr lang="en-US" altLang="zh-CN" sz="2800" dirty="0"/>
          </a:p>
          <a:p>
            <a:r>
              <a:rPr lang="en-US" altLang="zh-CN" sz="2800" dirty="0"/>
              <a:t>• Improved prompts produce more consistent layouts</a:t>
            </a:r>
          </a:p>
          <a:p>
            <a:endParaRPr lang="en-US" altLang="zh-CN" sz="2800" dirty="0"/>
          </a:p>
          <a:p>
            <a:r>
              <a:rPr lang="en-US" altLang="zh-CN" sz="2800" dirty="0"/>
              <a:t>• Prompt engineering improves control, not resolution</a:t>
            </a:r>
          </a:p>
          <a:p>
            <a:endParaRPr lang="en-US" altLang="zh-CN" sz="2800" dirty="0"/>
          </a:p>
          <a:p>
            <a:r>
              <a:rPr lang="en-US" altLang="zh-CN" sz="2400" dirty="0"/>
              <a:t>Limitations:</a:t>
            </a:r>
          </a:p>
          <a:p>
            <a:r>
              <a:rPr lang="en-US" altLang="zh-CN" sz="2400" dirty="0"/>
              <a:t>• Limited control over fine details</a:t>
            </a:r>
          </a:p>
          <a:p>
            <a:r>
              <a:rPr lang="en-US" altLang="zh-CN" sz="2400" dirty="0"/>
              <a:t>• Image quality depends on model capability</a:t>
            </a:r>
          </a:p>
          <a:p>
            <a:r>
              <a:rPr lang="en-US" altLang="zh-CN" sz="2400" dirty="0"/>
              <a:t>• Prompt tuning requires manual effort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585"/>
            <a:ext cx="10515600" cy="1325563"/>
          </a:xfrm>
        </p:spPr>
        <p:txBody>
          <a:bodyPr/>
          <a:lstStyle/>
          <a:p>
            <a:r>
              <a:rPr lang="en-US" b="1" dirty="0"/>
              <a:t>Tools &amp; Technologies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01CB87-793F-C07D-6CBE-24B9E42DFA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7622" y="1981517"/>
            <a:ext cx="1072162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• Stable Diffusion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• Diffusers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• Google </a:t>
            </a:r>
            <a:r>
              <a:rPr lang="en-US" altLang="zh-CN" sz="2400" dirty="0" err="1">
                <a:latin typeface="Arial" panose="020B0604020202020204" pitchFamily="34" charset="0"/>
              </a:rPr>
              <a:t>Colab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• ChatGPT (for code assistance)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5965" y="1082040"/>
            <a:ext cx="8330565" cy="46945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a605dc2-57b8-449e-9b29-1b2da2b952bb"/>
  <p:tag name="COMMONDATA" val="eyJoZGlkIjoiMTMxZmZmNjU1MDNlMjJjNTU5N2E2MzhmNzBkYjA5O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378</Words>
  <Application>Microsoft Office PowerPoint</Application>
  <PresentationFormat>宽屏</PresentationFormat>
  <Paragraphs>84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Option 2: Interior Design Generation Controlled Image Generation using Stable Diffusion</vt:lpstr>
      <vt:lpstr>Contents </vt:lpstr>
      <vt:lpstr>Data Source</vt:lpstr>
      <vt:lpstr>Methodology: </vt:lpstr>
      <vt:lpstr>Stable Diffusion Pipeline</vt:lpstr>
      <vt:lpstr>Prompt Design</vt:lpstr>
      <vt:lpstr>PowerPoint 演示文稿</vt:lpstr>
      <vt:lpstr>Results</vt:lpstr>
      <vt:lpstr>PowerPoint 演示文稿</vt:lpstr>
      <vt:lpstr>PowerPoint 演示文稿</vt:lpstr>
      <vt:lpstr>Tools &amp; Technologies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Report for Jan 11, 2024</dc:title>
  <dc:creator>Fahad Almofawez (Student)</dc:creator>
  <cp:lastModifiedBy>Hou, Ruixuan (UMKC-Student)</cp:lastModifiedBy>
  <cp:revision>65</cp:revision>
  <dcterms:created xsi:type="dcterms:W3CDTF">2025-02-20T21:36:00Z</dcterms:created>
  <dcterms:modified xsi:type="dcterms:W3CDTF">2026-04-19T20:56:12Z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E82FE656688D4466B8115B9D67231E2F</vt:lpwstr>
  </property>
  <property fmtid="{D5CDD505-2E9C-101B-9397-08002B2CF9AE}" pid="3" name="KSOProductBuildVer">
    <vt:lpwstr>2052-11.1.0.12165</vt:lpwstr>
  </property>
</Properties>
</file>